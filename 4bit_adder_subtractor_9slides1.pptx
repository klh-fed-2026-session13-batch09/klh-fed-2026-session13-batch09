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656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project: a single 4-bit circuit that adds, subtracts and flags overflow.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need, then walk through the five design steps from the single full adder to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and B feed four full adders. M controls the XOR gates and is also the first carry-in. Overflow happens when the carry into the MSB differs from the carry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bit is one full adder. Two ways to see overflow: carries (V = C3 XOR C4) or sign bits. B3-prime is B3 after the XOR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flowchart from Start: choose add or subtract with M, run the ripple-carry add, check overflow, then output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Logisim circuit, set M, A and B with the Poke tool, and read S, C4 and V. Rows 2 and 5 of the table are the overflow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add/subtract-with-overflow block appears wherever signed arithmetic is done in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the judges to the repository for the full source and simulation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22960"/>
            <a:ext cx="539496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971800"/>
            <a:ext cx="5394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5039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54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2296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4-Bit Adder / Subtractor with Overflow Detection</a:t>
            </a:r>
            <a:endParaRPr lang="en-US" sz="36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97180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4"/>
                </a:solidFill>
              </a:rPr>
              <a:t>Digital Design &amp; Computer Architecture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accent4"/>
                </a:solidFill>
              </a:rPr>
              <a:t>Project Expo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accent4"/>
                </a:solidFill>
              </a:rPr>
              <a:t> TEAM MEMBERS</a:t>
            </a:r>
          </a:p>
          <a:p>
            <a:pPr marL="0" indent="0" algn="l">
              <a:buNone/>
            </a:pPr>
            <a:r>
              <a:rPr lang="en-US" dirty="0"/>
              <a:t>D.PRANAVI 2620030497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chemeClr val="accent4"/>
                </a:solidFill>
              </a:rPr>
              <a:t>M.LAKSHMI VINAYA 2620030498</a:t>
            </a:r>
          </a:p>
          <a:p>
            <a:pPr marL="0" indent="0" algn="l">
              <a:buNone/>
            </a:pPr>
            <a:r>
              <a:rPr lang="en-US" dirty="0"/>
              <a:t>B.BHAVANI BAI 2620030465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chemeClr val="accent4"/>
                </a:solidFill>
              </a:rPr>
              <a:t>M.VEDA SAMHITHA 2620030480</a:t>
            </a:r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4" name="fa_1"/>
          <p:cNvSpPr/>
          <p:nvPr/>
        </p:nvSpPr>
        <p:spPr>
          <a:xfrm>
            <a:off x="6858000" y="685800"/>
            <a:ext cx="1280160" cy="73152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FA0</a:t>
            </a:r>
            <a:endParaRPr lang="en-US" sz="1800" dirty="0"/>
          </a:p>
        </p:txBody>
      </p:sp>
      <p:sp>
        <p:nvSpPr>
          <p:cNvPr id="5" name="line_2"/>
          <p:cNvSpPr/>
          <p:nvPr/>
        </p:nvSpPr>
        <p:spPr>
          <a:xfrm>
            <a:off x="7498080" y="1417320"/>
            <a:ext cx="0" cy="2743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fa_3"/>
          <p:cNvSpPr/>
          <p:nvPr/>
        </p:nvSpPr>
        <p:spPr>
          <a:xfrm>
            <a:off x="6858000" y="1691640"/>
            <a:ext cx="1280160" cy="73152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FA1</a:t>
            </a:r>
            <a:endParaRPr lang="en-US" sz="1800" dirty="0"/>
          </a:p>
        </p:txBody>
      </p:sp>
      <p:sp>
        <p:nvSpPr>
          <p:cNvPr id="7" name="line_4"/>
          <p:cNvSpPr/>
          <p:nvPr/>
        </p:nvSpPr>
        <p:spPr>
          <a:xfrm>
            <a:off x="7498080" y="2423160"/>
            <a:ext cx="0" cy="2743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fa_5"/>
          <p:cNvSpPr/>
          <p:nvPr/>
        </p:nvSpPr>
        <p:spPr>
          <a:xfrm>
            <a:off x="6858000" y="2697480"/>
            <a:ext cx="1280160" cy="73152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FA2</a:t>
            </a:r>
            <a:endParaRPr lang="en-US" sz="1800" dirty="0"/>
          </a:p>
        </p:txBody>
      </p:sp>
      <p:sp>
        <p:nvSpPr>
          <p:cNvPr id="9" name="line_6"/>
          <p:cNvSpPr/>
          <p:nvPr/>
        </p:nvSpPr>
        <p:spPr>
          <a:xfrm>
            <a:off x="7498080" y="3429000"/>
            <a:ext cx="0" cy="2743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fa_7"/>
          <p:cNvSpPr/>
          <p:nvPr/>
        </p:nvSpPr>
        <p:spPr>
          <a:xfrm>
            <a:off x="6858000" y="3703320"/>
            <a:ext cx="1280160" cy="73152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FA3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4592" y="-18288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Problem &amp; Methodology</a:t>
            </a:r>
            <a:endParaRPr lang="en-US" sz="3600" dirty="0"/>
          </a:p>
        </p:txBody>
      </p:sp>
      <p:sp>
        <p:nvSpPr>
          <p:cNvPr id="3" name="text_8"/>
          <p:cNvSpPr txBox="1"/>
          <p:nvPr/>
        </p:nvSpPr>
        <p:spPr>
          <a:xfrm>
            <a:off x="164592" y="457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5" name="text_10"/>
          <p:cNvSpPr txBox="1"/>
          <p:nvPr/>
        </p:nvSpPr>
        <p:spPr>
          <a:xfrm>
            <a:off x="194134" y="269519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Our goal</a:t>
            </a:r>
            <a:endParaRPr lang="en-US" sz="1600" dirty="0"/>
          </a:p>
        </p:txBody>
      </p:sp>
      <p:sp>
        <p:nvSpPr>
          <p:cNvPr id="6" name="text_11"/>
          <p:cNvSpPr txBox="1"/>
          <p:nvPr/>
        </p:nvSpPr>
        <p:spPr>
          <a:xfrm>
            <a:off x="194134" y="294665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Design one 4-bit circuit that adds, subtracts using 2’s complement, and raises an overflow flag.</a:t>
            </a:r>
            <a:endParaRPr lang="en-US" sz="1300" dirty="0"/>
          </a:p>
        </p:txBody>
      </p:sp>
      <p:sp>
        <p:nvSpPr>
          <p:cNvPr id="7" name="card_12"/>
          <p:cNvSpPr/>
          <p:nvPr/>
        </p:nvSpPr>
        <p:spPr>
          <a:xfrm>
            <a:off x="4937760" y="1188720"/>
            <a:ext cx="374904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_13"/>
          <p:cNvSpPr txBox="1"/>
          <p:nvPr/>
        </p:nvSpPr>
        <p:spPr>
          <a:xfrm>
            <a:off x="5120640" y="1234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4-bit</a:t>
            </a:r>
            <a:endParaRPr lang="en-US" sz="2000" dirty="0"/>
          </a:p>
        </p:txBody>
      </p:sp>
      <p:sp>
        <p:nvSpPr>
          <p:cNvPr id="9" name="text_14"/>
          <p:cNvSpPr txBox="1"/>
          <p:nvPr/>
        </p:nvSpPr>
        <p:spPr>
          <a:xfrm>
            <a:off x="6720840" y="1234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Inputs A and B</a:t>
            </a:r>
            <a:endParaRPr lang="en-US" sz="1200" dirty="0"/>
          </a:p>
        </p:txBody>
      </p:sp>
      <p:sp>
        <p:nvSpPr>
          <p:cNvPr id="10" name="card_15"/>
          <p:cNvSpPr/>
          <p:nvPr/>
        </p:nvSpPr>
        <p:spPr>
          <a:xfrm>
            <a:off x="4937760" y="1965960"/>
            <a:ext cx="374904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1" name="text_16"/>
          <p:cNvSpPr txBox="1"/>
          <p:nvPr/>
        </p:nvSpPr>
        <p:spPr>
          <a:xfrm>
            <a:off x="5120640" y="1965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 to +7</a:t>
            </a:r>
            <a:endParaRPr lang="en-US" sz="2000" dirty="0"/>
          </a:p>
        </p:txBody>
      </p:sp>
      <p:sp>
        <p:nvSpPr>
          <p:cNvPr id="12" name="text_17"/>
          <p:cNvSpPr txBox="1"/>
          <p:nvPr/>
        </p:nvSpPr>
        <p:spPr>
          <a:xfrm>
            <a:off x="6720840" y="19659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Signed result range</a:t>
            </a:r>
            <a:endParaRPr lang="en-US" sz="1200" dirty="0"/>
          </a:p>
        </p:txBody>
      </p:sp>
      <p:sp>
        <p:nvSpPr>
          <p:cNvPr id="13" name="card_18"/>
          <p:cNvSpPr/>
          <p:nvPr/>
        </p:nvSpPr>
        <p:spPr>
          <a:xfrm>
            <a:off x="4937760" y="2697480"/>
            <a:ext cx="374904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4" name="text_19"/>
          <p:cNvSpPr txBox="1"/>
          <p:nvPr/>
        </p:nvSpPr>
        <p:spPr>
          <a:xfrm>
            <a:off x="5120640" y="2697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circuit</a:t>
            </a:r>
            <a:endParaRPr lang="en-US" sz="2000" dirty="0"/>
          </a:p>
        </p:txBody>
      </p:sp>
      <p:sp>
        <p:nvSpPr>
          <p:cNvPr id="15" name="text_20"/>
          <p:cNvSpPr txBox="1"/>
          <p:nvPr/>
        </p:nvSpPr>
        <p:spPr>
          <a:xfrm>
            <a:off x="6720840" y="26974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Add, subtract, flag overflow</a:t>
            </a:r>
            <a:endParaRPr lang="en-US" sz="1200" dirty="0"/>
          </a:p>
        </p:txBody>
      </p:sp>
      <p:sp>
        <p:nvSpPr>
          <p:cNvPr id="16" name="card_21"/>
          <p:cNvSpPr/>
          <p:nvPr/>
        </p:nvSpPr>
        <p:spPr>
          <a:xfrm>
            <a:off x="457200" y="3520440"/>
            <a:ext cx="155448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7" name="text_22"/>
          <p:cNvSpPr txBox="1"/>
          <p:nvPr/>
        </p:nvSpPr>
        <p:spPr>
          <a:xfrm>
            <a:off x="548640" y="3584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1. Full Adder</a:t>
            </a:r>
            <a:endParaRPr lang="en-US" sz="1200" dirty="0"/>
          </a:p>
        </p:txBody>
      </p:sp>
      <p:sp>
        <p:nvSpPr>
          <p:cNvPr id="18" name="text_23"/>
          <p:cNvSpPr txBox="1"/>
          <p:nvPr/>
        </p:nvSpPr>
        <p:spPr>
          <a:xfrm>
            <a:off x="548640" y="38862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One-bit adder with Sum and Carry-out logic.</a:t>
            </a:r>
            <a:endParaRPr lang="en-US" sz="1100" dirty="0"/>
          </a:p>
        </p:txBody>
      </p:sp>
      <p:sp>
        <p:nvSpPr>
          <p:cNvPr id="19" name="card_24"/>
          <p:cNvSpPr/>
          <p:nvPr/>
        </p:nvSpPr>
        <p:spPr>
          <a:xfrm>
            <a:off x="2121408" y="3520440"/>
            <a:ext cx="155448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20" name="text_25"/>
          <p:cNvSpPr txBox="1"/>
          <p:nvPr/>
        </p:nvSpPr>
        <p:spPr>
          <a:xfrm>
            <a:off x="2212848" y="3584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2. Ripple Carry</a:t>
            </a:r>
            <a:endParaRPr lang="en-US" sz="1200" dirty="0"/>
          </a:p>
        </p:txBody>
      </p:sp>
      <p:sp>
        <p:nvSpPr>
          <p:cNvPr id="21" name="text_26"/>
          <p:cNvSpPr txBox="1"/>
          <p:nvPr/>
        </p:nvSpPr>
        <p:spPr>
          <a:xfrm>
            <a:off x="2212848" y="38862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Chain four full adders; each carry feeds the next bit.</a:t>
            </a:r>
            <a:endParaRPr lang="en-US" sz="1100" dirty="0"/>
          </a:p>
        </p:txBody>
      </p:sp>
      <p:sp>
        <p:nvSpPr>
          <p:cNvPr id="22" name="card_27"/>
          <p:cNvSpPr/>
          <p:nvPr/>
        </p:nvSpPr>
        <p:spPr>
          <a:xfrm>
            <a:off x="3785616" y="3520440"/>
            <a:ext cx="155448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23" name="text_28"/>
          <p:cNvSpPr txBox="1"/>
          <p:nvPr/>
        </p:nvSpPr>
        <p:spPr>
          <a:xfrm>
            <a:off x="3877056" y="3584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3. Add / Subtract</a:t>
            </a:r>
            <a:endParaRPr lang="en-US" sz="1200" dirty="0"/>
          </a:p>
        </p:txBody>
      </p:sp>
      <p:sp>
        <p:nvSpPr>
          <p:cNvPr id="24" name="text_29"/>
          <p:cNvSpPr txBox="1"/>
          <p:nvPr/>
        </p:nvSpPr>
        <p:spPr>
          <a:xfrm>
            <a:off x="3877056" y="38862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XOR gates on B with Cin = M give A − B using 2’s complement.</a:t>
            </a:r>
            <a:endParaRPr lang="en-US" sz="1100" dirty="0"/>
          </a:p>
        </p:txBody>
      </p:sp>
      <p:sp>
        <p:nvSpPr>
          <p:cNvPr id="25" name="card_30"/>
          <p:cNvSpPr/>
          <p:nvPr/>
        </p:nvSpPr>
        <p:spPr>
          <a:xfrm>
            <a:off x="5449824" y="3520440"/>
            <a:ext cx="155448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26" name="text_31"/>
          <p:cNvSpPr txBox="1"/>
          <p:nvPr/>
        </p:nvSpPr>
        <p:spPr>
          <a:xfrm>
            <a:off x="5541264" y="3584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4. Overflow</a:t>
            </a:r>
            <a:endParaRPr lang="en-US" sz="1200" dirty="0"/>
          </a:p>
        </p:txBody>
      </p:sp>
      <p:sp>
        <p:nvSpPr>
          <p:cNvPr id="27" name="text_32"/>
          <p:cNvSpPr txBox="1"/>
          <p:nvPr/>
        </p:nvSpPr>
        <p:spPr>
          <a:xfrm>
            <a:off x="5541264" y="38862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V = C3 ⊕ C4 flags signed results outside −8 to +7.</a:t>
            </a:r>
            <a:endParaRPr lang="en-US" sz="1100" dirty="0"/>
          </a:p>
        </p:txBody>
      </p:sp>
      <p:sp>
        <p:nvSpPr>
          <p:cNvPr id="28" name="card_33"/>
          <p:cNvSpPr/>
          <p:nvPr/>
        </p:nvSpPr>
        <p:spPr>
          <a:xfrm>
            <a:off x="7114032" y="3520440"/>
            <a:ext cx="155448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29" name="text_34"/>
          <p:cNvSpPr txBox="1"/>
          <p:nvPr/>
        </p:nvSpPr>
        <p:spPr>
          <a:xfrm>
            <a:off x="7205472" y="3584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5. Verify</a:t>
            </a:r>
            <a:endParaRPr lang="en-US" sz="1200" dirty="0"/>
          </a:p>
        </p:txBody>
      </p:sp>
      <p:sp>
        <p:nvSpPr>
          <p:cNvPr id="30" name="text_35"/>
          <p:cNvSpPr txBox="1"/>
          <p:nvPr/>
        </p:nvSpPr>
        <p:spPr>
          <a:xfrm>
            <a:off x="7205472" y="38862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Simulate add, subtract and overflow test cases.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3" name="text_9">
            <a:extLst>
              <a:ext uri="{FF2B5EF4-FFF2-40B4-BE49-F238E27FC236}">
                <a16:creationId xmlns:a16="http://schemas.microsoft.com/office/drawing/2014/main" id="{7596429A-8F66-7CF7-92BC-F57B00040E40}"/>
              </a:ext>
            </a:extLst>
          </p:cNvPr>
          <p:cNvSpPr txBox="1"/>
          <p:nvPr/>
        </p:nvSpPr>
        <p:spPr>
          <a:xfrm>
            <a:off x="182880" y="758952"/>
            <a:ext cx="4343401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050" dirty="0"/>
              <a:t>Our problem statement is about designing a 4-bit signed adder-subtractor circuit.</a:t>
            </a:r>
          </a:p>
          <a:p>
            <a:r>
              <a:rPr lang="en-IN" sz="1050" dirty="0"/>
              <a:t>Processors need to perform both addition and subtraction on positive and negative binary numbers. If we use separate circuits for these operations, it requires more hardware.</a:t>
            </a:r>
          </a:p>
          <a:p>
            <a:r>
              <a:rPr lang="en-IN" sz="1050" dirty="0"/>
              <a:t>To solve this problem, we can design a single circuit that performs both addition and subtraction using a control input and 2's complement.</a:t>
            </a:r>
          </a:p>
          <a:p>
            <a:r>
              <a:rPr lang="en-IN" sz="1050" dirty="0"/>
              <a:t>Another important problem is overflow. A 4-bit signed number can represent values only from minus 8 to plus 7. If the result goes outside this range, the answer may be incorrect.</a:t>
            </a:r>
          </a:p>
          <a:p>
            <a:r>
              <a:rPr lang="en-IN" sz="1050" dirty="0"/>
              <a:t>Therefore, our objective is to design a combined adder-subtractor circuit that reduces hardware and detects overflow.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Architecture &amp; How It Works</a:t>
            </a:r>
            <a:endParaRPr lang="en-US" sz="3600" dirty="0"/>
          </a:p>
        </p:txBody>
      </p:sp>
      <p:sp>
        <p:nvSpPr>
          <p:cNvPr id="3" name="text_36"/>
          <p:cNvSpPr txBox="1"/>
          <p:nvPr/>
        </p:nvSpPr>
        <p:spPr>
          <a:xfrm>
            <a:off x="950976" y="1234440"/>
            <a:ext cx="3511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A0</a:t>
            </a:r>
            <a:endParaRPr lang="en-US" sz="1000" dirty="0"/>
          </a:p>
        </p:txBody>
      </p:sp>
      <p:sp>
        <p:nvSpPr>
          <p:cNvPr id="4" name="line_37"/>
          <p:cNvSpPr/>
          <p:nvPr/>
        </p:nvSpPr>
        <p:spPr>
          <a:xfrm>
            <a:off x="1126541" y="1410005"/>
            <a:ext cx="0" cy="555955"/>
          </a:xfrm>
          <a:prstGeom prst="line">
            <a:avLst/>
          </a:prstGeom>
          <a:noFill/>
          <a:ln w="16002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" name="text_38"/>
          <p:cNvSpPr txBox="1"/>
          <p:nvPr/>
        </p:nvSpPr>
        <p:spPr>
          <a:xfrm>
            <a:off x="1331366" y="1234440"/>
            <a:ext cx="3511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B0</a:t>
            </a:r>
            <a:endParaRPr lang="en-US" sz="1000" dirty="0"/>
          </a:p>
        </p:txBody>
      </p:sp>
      <p:sp>
        <p:nvSpPr>
          <p:cNvPr id="6" name="line_39"/>
          <p:cNvSpPr/>
          <p:nvPr/>
        </p:nvSpPr>
        <p:spPr>
          <a:xfrm>
            <a:off x="1506931" y="1410005"/>
            <a:ext cx="0" cy="117043"/>
          </a:xfrm>
          <a:prstGeom prst="line">
            <a:avLst/>
          </a:prstGeom>
          <a:noFill/>
          <a:ln w="16002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" name="xor_40"/>
          <p:cNvSpPr/>
          <p:nvPr/>
        </p:nvSpPr>
        <p:spPr>
          <a:xfrm>
            <a:off x="1302106" y="1527048"/>
            <a:ext cx="409651" cy="234086"/>
          </a:xfrm>
          <a:prstGeom prst="roundRect">
            <a:avLst>
              <a:gd name="adj" fmla="val 2343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1"/>
                </a:solidFill>
              </a:rPr>
              <a:t>XOR</a:t>
            </a:r>
            <a:endParaRPr lang="en-US" sz="800" dirty="0"/>
          </a:p>
        </p:txBody>
      </p:sp>
      <p:sp>
        <p:nvSpPr>
          <p:cNvPr id="8" name="line_41"/>
          <p:cNvSpPr/>
          <p:nvPr/>
        </p:nvSpPr>
        <p:spPr>
          <a:xfrm>
            <a:off x="1506931" y="1761134"/>
            <a:ext cx="0" cy="204826"/>
          </a:xfrm>
          <a:prstGeom prst="line">
            <a:avLst/>
          </a:prstGeom>
          <a:noFill/>
          <a:ln w="16002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fa_42"/>
          <p:cNvSpPr/>
          <p:nvPr/>
        </p:nvSpPr>
        <p:spPr>
          <a:xfrm>
            <a:off x="950976" y="1965960"/>
            <a:ext cx="760781" cy="468173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FA0</a:t>
            </a:r>
            <a:endParaRPr lang="en-US" sz="1200" dirty="0"/>
          </a:p>
        </p:txBody>
      </p:sp>
      <p:sp>
        <p:nvSpPr>
          <p:cNvPr id="10" name="line_43"/>
          <p:cNvSpPr/>
          <p:nvPr/>
        </p:nvSpPr>
        <p:spPr>
          <a:xfrm>
            <a:off x="1331366" y="2434133"/>
            <a:ext cx="0" cy="175565"/>
          </a:xfrm>
          <a:prstGeom prst="line">
            <a:avLst/>
          </a:prstGeom>
          <a:noFill/>
          <a:ln w="16002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text_44"/>
          <p:cNvSpPr txBox="1"/>
          <p:nvPr/>
        </p:nvSpPr>
        <p:spPr>
          <a:xfrm>
            <a:off x="1155802" y="2621402"/>
            <a:ext cx="3511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S0</a:t>
            </a:r>
            <a:endParaRPr lang="en-US" sz="1000" dirty="0"/>
          </a:p>
        </p:txBody>
      </p:sp>
      <p:sp>
        <p:nvSpPr>
          <p:cNvPr id="12" name="text_45"/>
          <p:cNvSpPr txBox="1"/>
          <p:nvPr/>
        </p:nvSpPr>
        <p:spPr>
          <a:xfrm>
            <a:off x="2062886" y="1234440"/>
            <a:ext cx="3511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A1</a:t>
            </a:r>
            <a:endParaRPr lang="en-US" sz="1000" dirty="0"/>
          </a:p>
        </p:txBody>
      </p:sp>
      <p:sp>
        <p:nvSpPr>
          <p:cNvPr id="13" name="line_46"/>
          <p:cNvSpPr/>
          <p:nvPr/>
        </p:nvSpPr>
        <p:spPr>
          <a:xfrm>
            <a:off x="2238451" y="1410005"/>
            <a:ext cx="0" cy="555955"/>
          </a:xfrm>
          <a:prstGeom prst="line">
            <a:avLst/>
          </a:prstGeom>
          <a:noFill/>
          <a:ln w="16002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text_47"/>
          <p:cNvSpPr txBox="1"/>
          <p:nvPr/>
        </p:nvSpPr>
        <p:spPr>
          <a:xfrm>
            <a:off x="2443277" y="1234440"/>
            <a:ext cx="3511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B1</a:t>
            </a:r>
            <a:endParaRPr lang="en-US" sz="1000" dirty="0"/>
          </a:p>
        </p:txBody>
      </p:sp>
      <p:sp>
        <p:nvSpPr>
          <p:cNvPr id="15" name="line_48"/>
          <p:cNvSpPr/>
          <p:nvPr/>
        </p:nvSpPr>
        <p:spPr>
          <a:xfrm>
            <a:off x="2618842" y="1410005"/>
            <a:ext cx="0" cy="117043"/>
          </a:xfrm>
          <a:prstGeom prst="line">
            <a:avLst/>
          </a:prstGeom>
          <a:noFill/>
          <a:ln w="16002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xor_49"/>
          <p:cNvSpPr/>
          <p:nvPr/>
        </p:nvSpPr>
        <p:spPr>
          <a:xfrm>
            <a:off x="2414016" y="1527048"/>
            <a:ext cx="409651" cy="234086"/>
          </a:xfrm>
          <a:prstGeom prst="roundRect">
            <a:avLst>
              <a:gd name="adj" fmla="val 2343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1"/>
                </a:solidFill>
              </a:rPr>
              <a:t>XOR</a:t>
            </a:r>
            <a:endParaRPr lang="en-US" sz="800" dirty="0"/>
          </a:p>
        </p:txBody>
      </p:sp>
      <p:sp>
        <p:nvSpPr>
          <p:cNvPr id="17" name="line_50"/>
          <p:cNvSpPr/>
          <p:nvPr/>
        </p:nvSpPr>
        <p:spPr>
          <a:xfrm>
            <a:off x="2618842" y="1761134"/>
            <a:ext cx="0" cy="204826"/>
          </a:xfrm>
          <a:prstGeom prst="line">
            <a:avLst/>
          </a:prstGeom>
          <a:noFill/>
          <a:ln w="16002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fa_51"/>
          <p:cNvSpPr/>
          <p:nvPr/>
        </p:nvSpPr>
        <p:spPr>
          <a:xfrm>
            <a:off x="2062886" y="1965960"/>
            <a:ext cx="760781" cy="468173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FA1</a:t>
            </a:r>
            <a:endParaRPr lang="en-US" sz="1200" dirty="0"/>
          </a:p>
        </p:txBody>
      </p:sp>
      <p:sp>
        <p:nvSpPr>
          <p:cNvPr id="19" name="line_52"/>
          <p:cNvSpPr/>
          <p:nvPr/>
        </p:nvSpPr>
        <p:spPr>
          <a:xfrm>
            <a:off x="2443277" y="2434133"/>
            <a:ext cx="0" cy="175565"/>
          </a:xfrm>
          <a:prstGeom prst="line">
            <a:avLst/>
          </a:prstGeom>
          <a:noFill/>
          <a:ln w="16002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text_53"/>
          <p:cNvSpPr txBox="1"/>
          <p:nvPr/>
        </p:nvSpPr>
        <p:spPr>
          <a:xfrm>
            <a:off x="2267712" y="2621402"/>
            <a:ext cx="3511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S1</a:t>
            </a:r>
            <a:endParaRPr lang="en-US" sz="1000" dirty="0"/>
          </a:p>
        </p:txBody>
      </p:sp>
      <p:sp>
        <p:nvSpPr>
          <p:cNvPr id="21" name="text_54"/>
          <p:cNvSpPr txBox="1"/>
          <p:nvPr/>
        </p:nvSpPr>
        <p:spPr>
          <a:xfrm>
            <a:off x="3174797" y="1234440"/>
            <a:ext cx="3511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A2</a:t>
            </a:r>
            <a:endParaRPr lang="en-US" sz="1000" dirty="0"/>
          </a:p>
        </p:txBody>
      </p:sp>
      <p:sp>
        <p:nvSpPr>
          <p:cNvPr id="22" name="line_55"/>
          <p:cNvSpPr/>
          <p:nvPr/>
        </p:nvSpPr>
        <p:spPr>
          <a:xfrm>
            <a:off x="3350362" y="1410005"/>
            <a:ext cx="0" cy="555955"/>
          </a:xfrm>
          <a:prstGeom prst="line">
            <a:avLst/>
          </a:prstGeom>
          <a:noFill/>
          <a:ln w="16002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text_56"/>
          <p:cNvSpPr txBox="1"/>
          <p:nvPr/>
        </p:nvSpPr>
        <p:spPr>
          <a:xfrm>
            <a:off x="3555187" y="1234440"/>
            <a:ext cx="3511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B2</a:t>
            </a:r>
            <a:endParaRPr lang="en-US" sz="1000" dirty="0"/>
          </a:p>
        </p:txBody>
      </p:sp>
      <p:sp>
        <p:nvSpPr>
          <p:cNvPr id="24" name="line_57"/>
          <p:cNvSpPr/>
          <p:nvPr/>
        </p:nvSpPr>
        <p:spPr>
          <a:xfrm>
            <a:off x="3730752" y="1410005"/>
            <a:ext cx="0" cy="117043"/>
          </a:xfrm>
          <a:prstGeom prst="line">
            <a:avLst/>
          </a:prstGeom>
          <a:noFill/>
          <a:ln w="16002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xor_58"/>
          <p:cNvSpPr/>
          <p:nvPr/>
        </p:nvSpPr>
        <p:spPr>
          <a:xfrm>
            <a:off x="3525926" y="1527048"/>
            <a:ext cx="409651" cy="234086"/>
          </a:xfrm>
          <a:prstGeom prst="roundRect">
            <a:avLst>
              <a:gd name="adj" fmla="val 2343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1"/>
                </a:solidFill>
              </a:rPr>
              <a:t>XOR</a:t>
            </a:r>
            <a:endParaRPr lang="en-US" sz="800" dirty="0"/>
          </a:p>
        </p:txBody>
      </p:sp>
      <p:sp>
        <p:nvSpPr>
          <p:cNvPr id="26" name="line_59"/>
          <p:cNvSpPr/>
          <p:nvPr/>
        </p:nvSpPr>
        <p:spPr>
          <a:xfrm>
            <a:off x="3730752" y="1761134"/>
            <a:ext cx="0" cy="204826"/>
          </a:xfrm>
          <a:prstGeom prst="line">
            <a:avLst/>
          </a:prstGeom>
          <a:noFill/>
          <a:ln w="16002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7" name="fa_60"/>
          <p:cNvSpPr/>
          <p:nvPr/>
        </p:nvSpPr>
        <p:spPr>
          <a:xfrm>
            <a:off x="3174797" y="1965960"/>
            <a:ext cx="760781" cy="468173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FA2</a:t>
            </a:r>
            <a:endParaRPr lang="en-US" sz="1200" dirty="0"/>
          </a:p>
        </p:txBody>
      </p:sp>
      <p:sp>
        <p:nvSpPr>
          <p:cNvPr id="28" name="line_61"/>
          <p:cNvSpPr/>
          <p:nvPr/>
        </p:nvSpPr>
        <p:spPr>
          <a:xfrm>
            <a:off x="3555187" y="2434133"/>
            <a:ext cx="0" cy="175565"/>
          </a:xfrm>
          <a:prstGeom prst="line">
            <a:avLst/>
          </a:prstGeom>
          <a:noFill/>
          <a:ln w="16002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text_62"/>
          <p:cNvSpPr txBox="1"/>
          <p:nvPr/>
        </p:nvSpPr>
        <p:spPr>
          <a:xfrm>
            <a:off x="3379622" y="2621402"/>
            <a:ext cx="3511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S2</a:t>
            </a:r>
            <a:endParaRPr lang="en-US" sz="1000" dirty="0"/>
          </a:p>
        </p:txBody>
      </p:sp>
      <p:sp>
        <p:nvSpPr>
          <p:cNvPr id="30" name="text_63"/>
          <p:cNvSpPr txBox="1"/>
          <p:nvPr/>
        </p:nvSpPr>
        <p:spPr>
          <a:xfrm>
            <a:off x="4286707" y="1234440"/>
            <a:ext cx="3511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A3</a:t>
            </a:r>
            <a:endParaRPr lang="en-US" sz="1000" dirty="0"/>
          </a:p>
        </p:txBody>
      </p:sp>
      <p:sp>
        <p:nvSpPr>
          <p:cNvPr id="31" name="line_64"/>
          <p:cNvSpPr/>
          <p:nvPr/>
        </p:nvSpPr>
        <p:spPr>
          <a:xfrm>
            <a:off x="4462272" y="1410005"/>
            <a:ext cx="0" cy="555955"/>
          </a:xfrm>
          <a:prstGeom prst="line">
            <a:avLst/>
          </a:prstGeom>
          <a:noFill/>
          <a:ln w="16002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2" name="text_65"/>
          <p:cNvSpPr txBox="1"/>
          <p:nvPr/>
        </p:nvSpPr>
        <p:spPr>
          <a:xfrm>
            <a:off x="4667098" y="1234440"/>
            <a:ext cx="3511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B3</a:t>
            </a:r>
            <a:endParaRPr lang="en-US" sz="1000" dirty="0"/>
          </a:p>
        </p:txBody>
      </p:sp>
      <p:sp>
        <p:nvSpPr>
          <p:cNvPr id="33" name="line_66"/>
          <p:cNvSpPr/>
          <p:nvPr/>
        </p:nvSpPr>
        <p:spPr>
          <a:xfrm>
            <a:off x="4842662" y="1410005"/>
            <a:ext cx="0" cy="117043"/>
          </a:xfrm>
          <a:prstGeom prst="line">
            <a:avLst/>
          </a:prstGeom>
          <a:noFill/>
          <a:ln w="16002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4" name="xor_67"/>
          <p:cNvSpPr/>
          <p:nvPr/>
        </p:nvSpPr>
        <p:spPr>
          <a:xfrm>
            <a:off x="4637837" y="1527048"/>
            <a:ext cx="409651" cy="234086"/>
          </a:xfrm>
          <a:prstGeom prst="roundRect">
            <a:avLst>
              <a:gd name="adj" fmla="val 2343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1"/>
                </a:solidFill>
              </a:rPr>
              <a:t>XOR</a:t>
            </a:r>
            <a:endParaRPr lang="en-US" sz="800" dirty="0"/>
          </a:p>
        </p:txBody>
      </p:sp>
      <p:sp>
        <p:nvSpPr>
          <p:cNvPr id="35" name="line_68"/>
          <p:cNvSpPr/>
          <p:nvPr/>
        </p:nvSpPr>
        <p:spPr>
          <a:xfrm>
            <a:off x="4842662" y="1761134"/>
            <a:ext cx="0" cy="204826"/>
          </a:xfrm>
          <a:prstGeom prst="line">
            <a:avLst/>
          </a:prstGeom>
          <a:noFill/>
          <a:ln w="16002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6" name="fa_69"/>
          <p:cNvSpPr/>
          <p:nvPr/>
        </p:nvSpPr>
        <p:spPr>
          <a:xfrm>
            <a:off x="4286707" y="1965960"/>
            <a:ext cx="760781" cy="468173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FA3</a:t>
            </a:r>
            <a:endParaRPr lang="en-US" sz="1200" dirty="0"/>
          </a:p>
        </p:txBody>
      </p:sp>
      <p:sp>
        <p:nvSpPr>
          <p:cNvPr id="37" name="line_70"/>
          <p:cNvSpPr/>
          <p:nvPr/>
        </p:nvSpPr>
        <p:spPr>
          <a:xfrm>
            <a:off x="4667098" y="2434133"/>
            <a:ext cx="0" cy="175565"/>
          </a:xfrm>
          <a:prstGeom prst="line">
            <a:avLst/>
          </a:prstGeom>
          <a:noFill/>
          <a:ln w="16002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8" name="text_71"/>
          <p:cNvSpPr txBox="1"/>
          <p:nvPr/>
        </p:nvSpPr>
        <p:spPr>
          <a:xfrm>
            <a:off x="4491533" y="2621402"/>
            <a:ext cx="3511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S3</a:t>
            </a:r>
            <a:endParaRPr lang="en-US" sz="1000" dirty="0"/>
          </a:p>
        </p:txBody>
      </p:sp>
      <p:sp>
        <p:nvSpPr>
          <p:cNvPr id="39" name="line_72"/>
          <p:cNvSpPr/>
          <p:nvPr/>
        </p:nvSpPr>
        <p:spPr>
          <a:xfrm>
            <a:off x="687629" y="2200046"/>
            <a:ext cx="263347" cy="0"/>
          </a:xfrm>
          <a:prstGeom prst="line">
            <a:avLst/>
          </a:prstGeom>
          <a:noFill/>
          <a:ln w="16002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0" name="text_73"/>
          <p:cNvSpPr txBox="1"/>
          <p:nvPr/>
        </p:nvSpPr>
        <p:spPr>
          <a:xfrm>
            <a:off x="307238" y="1995221"/>
            <a:ext cx="61447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</a:rPr>
              <a:t>Cin = M</a:t>
            </a:r>
            <a:endParaRPr lang="en-US" sz="900" dirty="0"/>
          </a:p>
        </p:txBody>
      </p:sp>
      <p:sp>
        <p:nvSpPr>
          <p:cNvPr id="41" name="line_74"/>
          <p:cNvSpPr/>
          <p:nvPr/>
        </p:nvSpPr>
        <p:spPr>
          <a:xfrm>
            <a:off x="1711757" y="2200046"/>
            <a:ext cx="351130" cy="0"/>
          </a:xfrm>
          <a:prstGeom prst="line">
            <a:avLst/>
          </a:prstGeom>
          <a:noFill/>
          <a:ln w="16002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2" name="text_75"/>
          <p:cNvSpPr txBox="1"/>
          <p:nvPr/>
        </p:nvSpPr>
        <p:spPr>
          <a:xfrm>
            <a:off x="1711757" y="1995221"/>
            <a:ext cx="3511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</a:rPr>
              <a:t>C1</a:t>
            </a:r>
            <a:endParaRPr lang="en-US" sz="900" dirty="0"/>
          </a:p>
        </p:txBody>
      </p:sp>
      <p:sp>
        <p:nvSpPr>
          <p:cNvPr id="43" name="line_76"/>
          <p:cNvSpPr/>
          <p:nvPr/>
        </p:nvSpPr>
        <p:spPr>
          <a:xfrm>
            <a:off x="2823667" y="2200046"/>
            <a:ext cx="351130" cy="0"/>
          </a:xfrm>
          <a:prstGeom prst="line">
            <a:avLst/>
          </a:prstGeom>
          <a:noFill/>
          <a:ln w="16002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4" name="text_77"/>
          <p:cNvSpPr txBox="1"/>
          <p:nvPr/>
        </p:nvSpPr>
        <p:spPr>
          <a:xfrm>
            <a:off x="2823667" y="1995221"/>
            <a:ext cx="3511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</a:rPr>
              <a:t>C2</a:t>
            </a:r>
            <a:endParaRPr lang="en-US" sz="900" dirty="0"/>
          </a:p>
        </p:txBody>
      </p:sp>
      <p:sp>
        <p:nvSpPr>
          <p:cNvPr id="45" name="line_78"/>
          <p:cNvSpPr/>
          <p:nvPr/>
        </p:nvSpPr>
        <p:spPr>
          <a:xfrm>
            <a:off x="3935578" y="2200046"/>
            <a:ext cx="351130" cy="0"/>
          </a:xfrm>
          <a:prstGeom prst="line">
            <a:avLst/>
          </a:prstGeom>
          <a:noFill/>
          <a:ln w="16002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6" name="text_79"/>
          <p:cNvSpPr txBox="1"/>
          <p:nvPr/>
        </p:nvSpPr>
        <p:spPr>
          <a:xfrm>
            <a:off x="3935578" y="1995221"/>
            <a:ext cx="3511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5"/>
                </a:solidFill>
              </a:rPr>
              <a:t>C3</a:t>
            </a:r>
            <a:endParaRPr lang="en-US" sz="900" dirty="0"/>
          </a:p>
        </p:txBody>
      </p:sp>
      <p:sp>
        <p:nvSpPr>
          <p:cNvPr id="47" name="line_80"/>
          <p:cNvSpPr/>
          <p:nvPr/>
        </p:nvSpPr>
        <p:spPr>
          <a:xfrm>
            <a:off x="5047488" y="2200046"/>
            <a:ext cx="321869" cy="0"/>
          </a:xfrm>
          <a:prstGeom prst="line">
            <a:avLst/>
          </a:prstGeom>
          <a:noFill/>
          <a:ln w="16002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8" name="text_81"/>
          <p:cNvSpPr txBox="1"/>
          <p:nvPr/>
        </p:nvSpPr>
        <p:spPr>
          <a:xfrm>
            <a:off x="5047488" y="1995221"/>
            <a:ext cx="3218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5"/>
                </a:solidFill>
              </a:rPr>
              <a:t>C4</a:t>
            </a:r>
            <a:endParaRPr lang="en-US" sz="900" dirty="0"/>
          </a:p>
        </p:txBody>
      </p:sp>
      <p:sp>
        <p:nvSpPr>
          <p:cNvPr id="49" name="line_82"/>
          <p:cNvSpPr/>
          <p:nvPr/>
        </p:nvSpPr>
        <p:spPr>
          <a:xfrm>
            <a:off x="4111142" y="2200046"/>
            <a:ext cx="0" cy="863194"/>
          </a:xfrm>
          <a:prstGeom prst="line">
            <a:avLst/>
          </a:prstGeom>
          <a:noFill/>
          <a:ln w="16002">
            <a:solidFill>
              <a:schemeClr val="accent5"/>
            </a:solidFill>
            <a:prstDash val="solid"/>
          </a:ln>
        </p:spPr>
      </p:sp>
      <p:sp>
        <p:nvSpPr>
          <p:cNvPr id="50" name="line_83"/>
          <p:cNvSpPr/>
          <p:nvPr/>
        </p:nvSpPr>
        <p:spPr>
          <a:xfrm>
            <a:off x="4111142" y="3063240"/>
            <a:ext cx="175565" cy="0"/>
          </a:xfrm>
          <a:prstGeom prst="line">
            <a:avLst/>
          </a:prstGeom>
          <a:noFill/>
          <a:ln w="16002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51" name="line_84"/>
          <p:cNvSpPr/>
          <p:nvPr/>
        </p:nvSpPr>
        <p:spPr>
          <a:xfrm>
            <a:off x="5193792" y="2200046"/>
            <a:ext cx="0" cy="863194"/>
          </a:xfrm>
          <a:prstGeom prst="line">
            <a:avLst/>
          </a:prstGeom>
          <a:noFill/>
          <a:ln w="16002">
            <a:solidFill>
              <a:schemeClr val="accent5"/>
            </a:solidFill>
            <a:prstDash val="solid"/>
          </a:ln>
        </p:spPr>
      </p:sp>
      <p:sp>
        <p:nvSpPr>
          <p:cNvPr id="52" name="line_85"/>
          <p:cNvSpPr/>
          <p:nvPr/>
        </p:nvSpPr>
        <p:spPr>
          <a:xfrm flipH="1">
            <a:off x="5047488" y="3063240"/>
            <a:ext cx="146304" cy="0"/>
          </a:xfrm>
          <a:prstGeom prst="line">
            <a:avLst/>
          </a:prstGeom>
          <a:noFill/>
          <a:ln w="16002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53" name="vbox_86"/>
          <p:cNvSpPr/>
          <p:nvPr/>
        </p:nvSpPr>
        <p:spPr>
          <a:xfrm>
            <a:off x="4286707" y="2931566"/>
            <a:ext cx="760781" cy="263347"/>
          </a:xfrm>
          <a:prstGeom prst="roundRect">
            <a:avLst>
              <a:gd name="adj" fmla="val 20833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V = C3 ⊕ C4</a:t>
            </a:r>
            <a:endParaRPr lang="en-US" sz="900" dirty="0"/>
          </a:p>
        </p:txBody>
      </p:sp>
      <p:sp>
        <p:nvSpPr>
          <p:cNvPr id="54" name="line_87"/>
          <p:cNvSpPr/>
          <p:nvPr/>
        </p:nvSpPr>
        <p:spPr>
          <a:xfrm>
            <a:off x="4667098" y="3194914"/>
            <a:ext cx="0" cy="146304"/>
          </a:xfrm>
          <a:prstGeom prst="line">
            <a:avLst/>
          </a:prstGeom>
          <a:noFill/>
          <a:ln w="16002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55" name="text_88"/>
          <p:cNvSpPr txBox="1"/>
          <p:nvPr/>
        </p:nvSpPr>
        <p:spPr>
          <a:xfrm>
            <a:off x="4286707" y="3358774"/>
            <a:ext cx="7607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5"/>
                </a:solidFill>
              </a:rPr>
              <a:t>V (overflow)</a:t>
            </a:r>
            <a:endParaRPr lang="en-US" sz="900" dirty="0"/>
          </a:p>
        </p:txBody>
      </p:sp>
      <p:sp>
        <p:nvSpPr>
          <p:cNvPr id="56" name="text_89"/>
          <p:cNvSpPr txBox="1"/>
          <p:nvPr/>
        </p:nvSpPr>
        <p:spPr>
          <a:xfrm>
            <a:off x="365760" y="3611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FA0 </a:t>
            </a:r>
            <a:r>
              <a:rPr lang="en-US" sz="1100" dirty="0">
                <a:solidFill>
                  <a:schemeClr val="tx1"/>
                </a:solidFill>
              </a:rPr>
              <a:t>is the LSB, </a:t>
            </a:r>
            <a:r>
              <a:rPr lang="en-US" sz="1100" b="1" dirty="0">
                <a:solidFill>
                  <a:schemeClr val="tx1"/>
                </a:solidFill>
              </a:rPr>
              <a:t>FA3 </a:t>
            </a:r>
            <a:r>
              <a:rPr lang="en-US" sz="1100" dirty="0">
                <a:solidFill>
                  <a:schemeClr val="tx1"/>
                </a:solidFill>
              </a:rPr>
              <a:t>is the MSB</a:t>
            </a:r>
            <a:endParaRPr lang="en-US" sz="1100" dirty="0"/>
          </a:p>
        </p:txBody>
      </p:sp>
      <p:sp>
        <p:nvSpPr>
          <p:cNvPr id="57" name="text_90"/>
          <p:cNvSpPr txBox="1"/>
          <p:nvPr/>
        </p:nvSpPr>
        <p:spPr>
          <a:xfrm>
            <a:off x="566928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Add / Subtract (M)</a:t>
            </a:r>
            <a:endParaRPr lang="en-US" sz="1400" dirty="0"/>
          </a:p>
        </p:txBody>
      </p:sp>
      <p:sp>
        <p:nvSpPr>
          <p:cNvPr id="58" name="text_91"/>
          <p:cNvSpPr txBox="1"/>
          <p:nvPr/>
        </p:nvSpPr>
        <p:spPr>
          <a:xfrm>
            <a:off x="5669280" y="1481328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 = 0: B passes through, Cin = 0, so A + B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 = 1: XOR gates invert B, Cin = 1, so A + ~B + 1 = A − B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Each full adder: S = A ⊕ B ⊕ Cin, Cout = AB + Cin(A ⊕ B)</a:t>
            </a:r>
            <a:endParaRPr lang="en-US" sz="1100" dirty="0"/>
          </a:p>
        </p:txBody>
      </p:sp>
      <p:sp>
        <p:nvSpPr>
          <p:cNvPr id="59" name="text_92"/>
          <p:cNvSpPr txBox="1"/>
          <p:nvPr/>
        </p:nvSpPr>
        <p:spPr>
          <a:xfrm>
            <a:off x="566928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Overflow Detection</a:t>
            </a:r>
            <a:endParaRPr lang="en-US" sz="1400" dirty="0"/>
          </a:p>
        </p:txBody>
      </p:sp>
      <p:sp>
        <p:nvSpPr>
          <p:cNvPr id="60" name="text_93"/>
          <p:cNvSpPr txBox="1"/>
          <p:nvPr/>
        </p:nvSpPr>
        <p:spPr>
          <a:xfrm>
            <a:off x="5669280" y="303580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C3 is the carry into the MSB, C4 is the carry out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If they differ, the signed result does not fit in 4 bits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V = 1 flags an invalid result; V = 0 means valid</a:t>
            </a:r>
            <a:endParaRPr lang="en-US" sz="1100" dirty="0"/>
          </a:p>
        </p:txBody>
      </p:sp>
      <p:sp>
        <p:nvSpPr>
          <p:cNvPr id="61" name="card_94"/>
          <p:cNvSpPr/>
          <p:nvPr/>
        </p:nvSpPr>
        <p:spPr>
          <a:xfrm>
            <a:off x="365760" y="4206240"/>
            <a:ext cx="40233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62" name="text_95"/>
          <p:cNvSpPr txBox="1"/>
          <p:nvPr/>
        </p:nvSpPr>
        <p:spPr>
          <a:xfrm>
            <a:off x="365760" y="4206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− B = A + ~B + 1</a:t>
            </a:r>
            <a:endParaRPr lang="en-US" sz="1600" dirty="0"/>
          </a:p>
        </p:txBody>
      </p:sp>
      <p:sp>
        <p:nvSpPr>
          <p:cNvPr id="63" name="card_96"/>
          <p:cNvSpPr/>
          <p:nvPr/>
        </p:nvSpPr>
        <p:spPr>
          <a:xfrm>
            <a:off x="4754880" y="4206240"/>
            <a:ext cx="40233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64" name="text_97"/>
          <p:cNvSpPr txBox="1"/>
          <p:nvPr/>
        </p:nvSpPr>
        <p:spPr>
          <a:xfrm>
            <a:off x="4754880" y="4206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C3 ⊕ C4</a:t>
            </a:r>
            <a:endParaRPr lang="en-US" sz="1600" dirty="0"/>
          </a:p>
        </p:txBody>
      </p:sp>
      <p:sp>
        <p:nvSpPr>
          <p:cNvPr id="6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Truth Tables</a:t>
            </a:r>
            <a:endParaRPr lang="en-US" sz="3600" dirty="0"/>
          </a:p>
        </p:txBody>
      </p:sp>
      <p:sp>
        <p:nvSpPr>
          <p:cNvPr id="4" name="text_98"/>
          <p:cNvSpPr txBox="1"/>
          <p:nvPr/>
        </p:nvSpPr>
        <p:spPr>
          <a:xfrm>
            <a:off x="365760" y="3974122"/>
            <a:ext cx="3474720" cy="492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Sum = A ⊕ B ⊕ Cin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Cout = AB + Cin(A ⊕ B)</a:t>
            </a:r>
            <a:endParaRPr lang="en-US" sz="1400" dirty="0"/>
          </a:p>
        </p:txBody>
      </p:sp>
      <p:sp>
        <p:nvSpPr>
          <p:cNvPr id="5" name="text_99"/>
          <p:cNvSpPr txBox="1"/>
          <p:nvPr/>
        </p:nvSpPr>
        <p:spPr>
          <a:xfrm>
            <a:off x="4023360" y="1188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Full adder</a:t>
            </a:r>
            <a:endParaRPr lang="en-US" sz="1200" dirty="0"/>
          </a:p>
        </p:txBody>
      </p:sp>
      <p:graphicFrame>
        <p:nvGraphicFramePr>
          <p:cNvPr id="6" name="full_adder_truth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1463040"/>
          <a:ext cx="2194561" cy="2221992"/>
        </p:xfrm>
        <a:graphic>
          <a:graphicData uri="http://schemas.openxmlformats.org/drawingml/2006/table">
            <a:tbl>
              <a:tblPr/>
              <a:tblGrid>
                <a:gridCol w="39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8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2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Cin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Sum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Cout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_100"/>
          <p:cNvSpPr txBox="1"/>
          <p:nvPr/>
        </p:nvSpPr>
        <p:spPr>
          <a:xfrm>
            <a:off x="6400800" y="1188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Overflow: carries</a:t>
            </a:r>
            <a:endParaRPr lang="en-US" sz="1200" dirty="0"/>
          </a:p>
        </p:txBody>
      </p:sp>
      <p:graphicFrame>
        <p:nvGraphicFramePr>
          <p:cNvPr id="9" name="overflow_carry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463040"/>
          <a:ext cx="2377440" cy="137160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C3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C4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1F"/>
                          </a:solidFill>
                        </a:rPr>
                        <a:t>Valid result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D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D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D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1F"/>
                          </a:solidFill>
                        </a:rPr>
                        <a:t>Overflow (neg + neg)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D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D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D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D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1F"/>
                          </a:solidFill>
                        </a:rPr>
                        <a:t>Overflow (pos + pos)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D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1F"/>
                          </a:solidFill>
                        </a:rPr>
                        <a:t>Valid result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_101"/>
          <p:cNvSpPr txBox="1"/>
          <p:nvPr/>
        </p:nvSpPr>
        <p:spPr>
          <a:xfrm>
            <a:off x="640080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tx1"/>
                </a:solidFill>
              </a:rPr>
              <a:t>V = C3 ⊕ C4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C3 = carry into MSB, C4 = carry out of MSB</a:t>
            </a:r>
            <a:endParaRPr lang="en-US" sz="1000" dirty="0"/>
          </a:p>
        </p:txBody>
      </p:sp>
      <p:sp>
        <p:nvSpPr>
          <p:cNvPr id="10" name="text_102"/>
          <p:cNvSpPr txBox="1"/>
          <p:nvPr/>
        </p:nvSpPr>
        <p:spPr>
          <a:xfrm>
            <a:off x="6400800" y="34564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Overflow: sign bits</a:t>
            </a:r>
            <a:endParaRPr lang="en-US" sz="1200" dirty="0"/>
          </a:p>
        </p:txBody>
      </p:sp>
      <p:graphicFrame>
        <p:nvGraphicFramePr>
          <p:cNvPr id="13" name="overflow_sign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3730752"/>
          <a:ext cx="2377440" cy="987552"/>
        </p:xfrm>
        <a:graphic>
          <a:graphicData uri="http://schemas.openxmlformats.org/drawingml/2006/table">
            <a:tbl>
              <a:tblPr/>
              <a:tblGrid>
                <a:gridCol w="47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77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77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77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A3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B3′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S3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D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D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7D9F7EB-6219-71A6-67E3-1A89F05DF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1" y="960384"/>
            <a:ext cx="3868615" cy="27246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Algorithm Flowchart</a:t>
            </a:r>
            <a:endParaRPr lang="en-US" sz="3600" dirty="0"/>
          </a:p>
        </p:txBody>
      </p:sp>
      <p:sp>
        <p:nvSpPr>
          <p:cNvPr id="3" name="node_103"/>
          <p:cNvSpPr/>
          <p:nvPr/>
        </p:nvSpPr>
        <p:spPr>
          <a:xfrm>
            <a:off x="457200" y="2377440"/>
            <a:ext cx="82296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Start</a:t>
            </a:r>
            <a:endParaRPr lang="en-US" sz="1200" dirty="0"/>
          </a:p>
        </p:txBody>
      </p:sp>
      <p:sp>
        <p:nvSpPr>
          <p:cNvPr id="4" name="line_104"/>
          <p:cNvSpPr/>
          <p:nvPr/>
        </p:nvSpPr>
        <p:spPr>
          <a:xfrm>
            <a:off x="1280160" y="2651760"/>
            <a:ext cx="365760" cy="0"/>
          </a:xfrm>
          <a:prstGeom prst="line">
            <a:avLst/>
          </a:prstGeom>
          <a:noFill/>
          <a:ln w="2159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" name="node_105"/>
          <p:cNvSpPr/>
          <p:nvPr/>
        </p:nvSpPr>
        <p:spPr>
          <a:xfrm>
            <a:off x="1645920" y="2286000"/>
            <a:ext cx="1371600" cy="731520"/>
          </a:xfrm>
          <a:prstGeom prst="parallelogram">
            <a:avLst/>
          </a:prstGeom>
          <a:solidFill>
            <a:schemeClr val="bg2"/>
          </a:solidFill>
          <a:ln w="15875">
            <a:solidFill>
              <a:schemeClr val="accent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Input A, B, M</a:t>
            </a:r>
            <a:endParaRPr lang="en-US" sz="1200" dirty="0"/>
          </a:p>
        </p:txBody>
      </p:sp>
      <p:sp>
        <p:nvSpPr>
          <p:cNvPr id="6" name="line_106"/>
          <p:cNvSpPr/>
          <p:nvPr/>
        </p:nvSpPr>
        <p:spPr>
          <a:xfrm>
            <a:off x="3017520" y="2651760"/>
            <a:ext cx="457200" cy="0"/>
          </a:xfrm>
          <a:prstGeom prst="line">
            <a:avLst/>
          </a:prstGeom>
          <a:noFill/>
          <a:ln w="2159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" name="node_107"/>
          <p:cNvSpPr/>
          <p:nvPr/>
        </p:nvSpPr>
        <p:spPr>
          <a:xfrm>
            <a:off x="3474720" y="2103120"/>
            <a:ext cx="1737360" cy="1097280"/>
          </a:xfrm>
          <a:prstGeom prst="diamond">
            <a:avLst/>
          </a:prstGeom>
          <a:solidFill>
            <a:schemeClr val="accent1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M = 1 ?</a:t>
            </a:r>
            <a:endParaRPr lang="en-US" sz="1200" dirty="0"/>
          </a:p>
        </p:txBody>
      </p:sp>
      <p:sp>
        <p:nvSpPr>
          <p:cNvPr id="8" name="line_108"/>
          <p:cNvSpPr/>
          <p:nvPr/>
        </p:nvSpPr>
        <p:spPr>
          <a:xfrm>
            <a:off x="4343400" y="2103120"/>
            <a:ext cx="1143000" cy="0"/>
          </a:xfrm>
          <a:prstGeom prst="line">
            <a:avLst/>
          </a:prstGeom>
          <a:noFill/>
          <a:ln w="2159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text_109"/>
          <p:cNvSpPr txBox="1"/>
          <p:nvPr/>
        </p:nvSpPr>
        <p:spPr>
          <a:xfrm>
            <a:off x="4663440" y="1810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Yes</a:t>
            </a:r>
            <a:endParaRPr lang="en-US" sz="1200" dirty="0"/>
          </a:p>
        </p:txBody>
      </p:sp>
      <p:sp>
        <p:nvSpPr>
          <p:cNvPr id="10" name="line_110"/>
          <p:cNvSpPr/>
          <p:nvPr/>
        </p:nvSpPr>
        <p:spPr>
          <a:xfrm>
            <a:off x="4343400" y="3200400"/>
            <a:ext cx="1143000" cy="0"/>
          </a:xfrm>
          <a:prstGeom prst="line">
            <a:avLst/>
          </a:prstGeom>
          <a:noFill/>
          <a:ln w="2159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text_111"/>
          <p:cNvSpPr txBox="1"/>
          <p:nvPr/>
        </p:nvSpPr>
        <p:spPr>
          <a:xfrm>
            <a:off x="4663440" y="32461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No</a:t>
            </a:r>
            <a:endParaRPr lang="en-US" sz="1200" dirty="0"/>
          </a:p>
        </p:txBody>
      </p:sp>
      <p:sp>
        <p:nvSpPr>
          <p:cNvPr id="12" name="node_112"/>
          <p:cNvSpPr/>
          <p:nvPr/>
        </p:nvSpPr>
        <p:spPr>
          <a:xfrm>
            <a:off x="5486400" y="1783080"/>
            <a:ext cx="1554480" cy="64008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B′ = ~B, Cin = 1 (Subtract)</a:t>
            </a:r>
            <a:endParaRPr lang="en-US" sz="1200" dirty="0"/>
          </a:p>
        </p:txBody>
      </p:sp>
      <p:sp>
        <p:nvSpPr>
          <p:cNvPr id="13" name="node_113"/>
          <p:cNvSpPr/>
          <p:nvPr/>
        </p:nvSpPr>
        <p:spPr>
          <a:xfrm>
            <a:off x="5486400" y="2880360"/>
            <a:ext cx="1554480" cy="64008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B′ = B, Cin = 0 (Add)</a:t>
            </a:r>
            <a:endParaRPr lang="en-US" sz="1200" dirty="0"/>
          </a:p>
        </p:txBody>
      </p:sp>
      <p:sp>
        <p:nvSpPr>
          <p:cNvPr id="14" name="line_114"/>
          <p:cNvSpPr/>
          <p:nvPr/>
        </p:nvSpPr>
        <p:spPr>
          <a:xfrm>
            <a:off x="7040880" y="2103120"/>
            <a:ext cx="457200" cy="0"/>
          </a:xfrm>
          <a:prstGeom prst="line">
            <a:avLst/>
          </a:prstGeom>
          <a:noFill/>
          <a:ln w="2159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line_115"/>
          <p:cNvSpPr/>
          <p:nvPr/>
        </p:nvSpPr>
        <p:spPr>
          <a:xfrm>
            <a:off x="7040880" y="3200400"/>
            <a:ext cx="457200" cy="0"/>
          </a:xfrm>
          <a:prstGeom prst="line">
            <a:avLst/>
          </a:prstGeom>
          <a:noFill/>
          <a:ln w="2159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node_116"/>
          <p:cNvSpPr/>
          <p:nvPr/>
        </p:nvSpPr>
        <p:spPr>
          <a:xfrm>
            <a:off x="7498080" y="1783080"/>
            <a:ext cx="1188720" cy="17373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Ripple-carry add through 4 full adders: S = A + B′ + Cin</a:t>
            </a:r>
            <a:endParaRPr lang="en-US" sz="1200" dirty="0"/>
          </a:p>
        </p:txBody>
      </p:sp>
      <p:sp>
        <p:nvSpPr>
          <p:cNvPr id="17" name="line_117"/>
          <p:cNvSpPr/>
          <p:nvPr/>
        </p:nvSpPr>
        <p:spPr>
          <a:xfrm>
            <a:off x="8092440" y="3520440"/>
            <a:ext cx="0" cy="411480"/>
          </a:xfrm>
          <a:prstGeom prst="line">
            <a:avLst/>
          </a:prstGeom>
          <a:noFill/>
          <a:ln w="2159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node_118"/>
          <p:cNvSpPr/>
          <p:nvPr/>
        </p:nvSpPr>
        <p:spPr>
          <a:xfrm>
            <a:off x="6492240" y="3931920"/>
            <a:ext cx="2194560" cy="640080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Overflow check: V = C3 ⊕ C4</a:t>
            </a:r>
            <a:endParaRPr lang="en-US" sz="1200" dirty="0"/>
          </a:p>
        </p:txBody>
      </p:sp>
      <p:sp>
        <p:nvSpPr>
          <p:cNvPr id="19" name="line_119"/>
          <p:cNvSpPr/>
          <p:nvPr/>
        </p:nvSpPr>
        <p:spPr>
          <a:xfrm flipH="1">
            <a:off x="6035040" y="4251960"/>
            <a:ext cx="457200" cy="0"/>
          </a:xfrm>
          <a:prstGeom prst="line">
            <a:avLst/>
          </a:prstGeom>
          <a:noFill/>
          <a:ln w="2159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node_120"/>
          <p:cNvSpPr/>
          <p:nvPr/>
        </p:nvSpPr>
        <p:spPr>
          <a:xfrm>
            <a:off x="3108960" y="3931920"/>
            <a:ext cx="2926080" cy="640080"/>
          </a:xfrm>
          <a:prstGeom prst="parallelogram">
            <a:avLst/>
          </a:prstGeom>
          <a:solidFill>
            <a:schemeClr val="bg2"/>
          </a:solidFill>
          <a:ln w="15875">
            <a:solidFill>
              <a:schemeClr val="accent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Output S[3:0], C4 and V (V = 1 means overflow)</a:t>
            </a:r>
            <a:endParaRPr lang="en-US" sz="1200" dirty="0"/>
          </a:p>
        </p:txBody>
      </p:sp>
      <p:sp>
        <p:nvSpPr>
          <p:cNvPr id="21" name="line_121"/>
          <p:cNvSpPr/>
          <p:nvPr/>
        </p:nvSpPr>
        <p:spPr>
          <a:xfrm flipH="1">
            <a:off x="2651760" y="4251960"/>
            <a:ext cx="457200" cy="0"/>
          </a:xfrm>
          <a:prstGeom prst="line">
            <a:avLst/>
          </a:prstGeom>
          <a:noFill/>
          <a:ln w="2159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node_122"/>
          <p:cNvSpPr/>
          <p:nvPr/>
        </p:nvSpPr>
        <p:spPr>
          <a:xfrm>
            <a:off x="1737360" y="3977640"/>
            <a:ext cx="91440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End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Logisim Circuit &amp; Demo</a:t>
            </a:r>
            <a:endParaRPr lang="en-US" sz="3600" dirty="0"/>
          </a:p>
        </p:txBody>
      </p:sp>
      <p:pic>
        <p:nvPicPr>
          <p:cNvPr id="3" name="Image 0" descr="Logisim-style schematic of the 4-bit adder subtractor with overflow detec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3383280" cy="2395187"/>
          </a:xfrm>
          <a:prstGeom prst="rect">
            <a:avLst/>
          </a:prstGeom>
        </p:spPr>
      </p:pic>
      <p:sp>
        <p:nvSpPr>
          <p:cNvPr id="4" name="text_123"/>
          <p:cNvSpPr txBox="1"/>
          <p:nvPr/>
        </p:nvSpPr>
        <p:spPr>
          <a:xfrm>
            <a:off x="365760" y="3639312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Inputs: A[3:0], B[3:0], M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Outputs: S[3:0], C4 and V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XOR gates on B, with M as Cin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Four full adders in a ripple chain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V = C3 ⊕ C4</a:t>
            </a:r>
            <a:endParaRPr lang="en-US" sz="1100" dirty="0"/>
          </a:p>
        </p:txBody>
      </p:sp>
      <p:sp>
        <p:nvSpPr>
          <p:cNvPr id="5" name="text_124"/>
          <p:cNvSpPr txBox="1"/>
          <p:nvPr/>
        </p:nvSpPr>
        <p:spPr>
          <a:xfrm>
            <a:off x="365760" y="46634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Replace this picture with your own Logisim screenshot.</a:t>
            </a:r>
            <a:endParaRPr lang="en-US" sz="1000" dirty="0"/>
          </a:p>
        </p:txBody>
      </p:sp>
      <p:sp>
        <p:nvSpPr>
          <p:cNvPr id="6" name="text_125"/>
          <p:cNvSpPr txBox="1"/>
          <p:nvPr/>
        </p:nvSpPr>
        <p:spPr>
          <a:xfrm>
            <a:off x="4023360" y="1188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Demo &amp; test cases</a:t>
            </a:r>
            <a:endParaRPr lang="en-US" sz="1400" dirty="0"/>
          </a:p>
        </p:txBody>
      </p:sp>
      <p:graphicFrame>
        <p:nvGraphicFramePr>
          <p:cNvPr id="7" name="test_cas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1508760"/>
          <a:ext cx="4754880" cy="914400"/>
        </p:xfrm>
        <a:graphic>
          <a:graphicData uri="http://schemas.openxmlformats.org/drawingml/2006/table">
            <a:tbl>
              <a:tblPr/>
              <a:tblGrid>
                <a:gridCol w="1117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38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1F"/>
                          </a:solidFill>
                        </a:rPr>
                        <a:t>0100 (4)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1F"/>
                          </a:solidFill>
                        </a:rPr>
                        <a:t>0010 (2)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1F"/>
                          </a:solidFill>
                        </a:rPr>
                        <a:t>ADD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1F"/>
                          </a:solidFill>
                        </a:rPr>
                        <a:t>0110 (6)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1F"/>
                          </a:solidFill>
                        </a:rPr>
                        <a:t>0101 (5)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D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1F"/>
                          </a:solidFill>
                        </a:rPr>
                        <a:t>0011 (3)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D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1F"/>
                          </a:solidFill>
                        </a:rPr>
                        <a:t>ADD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D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1F"/>
                          </a:solidFill>
                        </a:rPr>
                        <a:t>1000 (−8)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D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D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1F"/>
                          </a:solidFill>
                        </a:rPr>
                        <a:t>0111 (7)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1F"/>
                          </a:solidFill>
                        </a:rPr>
                        <a:t>0011 (3)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1F"/>
                          </a:solidFill>
                        </a:rPr>
                        <a:t>SUB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1F"/>
                          </a:solidFill>
                        </a:rPr>
                        <a:t>0100 (4)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1F"/>
                          </a:solidFill>
                        </a:rPr>
                        <a:t>0011 (3)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1F"/>
                          </a:solidFill>
                        </a:rPr>
                        <a:t>0101 (5)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1F"/>
                          </a:solidFill>
                        </a:rPr>
                        <a:t>SUB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1F"/>
                          </a:solidFill>
                        </a:rPr>
                        <a:t>1110 (−2)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1F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1F"/>
                          </a:solidFill>
                        </a:rPr>
                        <a:t>1000 (−8)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D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1F"/>
                          </a:solidFill>
                        </a:rPr>
                        <a:t>0001 (1)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D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1F"/>
                          </a:solidFill>
                        </a:rPr>
                        <a:t>SUB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D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1F"/>
                          </a:solidFill>
                        </a:rPr>
                        <a:t>0111 (+7)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D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1F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D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_126"/>
          <p:cNvSpPr txBox="1"/>
          <p:nvPr/>
        </p:nvSpPr>
        <p:spPr>
          <a:xfrm>
            <a:off x="4023360" y="34015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Signed 4-bit values. Shaded rows show overflow (V = 1).</a:t>
            </a:r>
            <a:endParaRPr lang="en-US" sz="1100" dirty="0"/>
          </a:p>
        </p:txBody>
      </p:sp>
      <p:sp>
        <p:nvSpPr>
          <p:cNvPr id="9" name="screenshot_127"/>
          <p:cNvSpPr/>
          <p:nvPr/>
        </p:nvSpPr>
        <p:spPr>
          <a:xfrm>
            <a:off x="4023360" y="3730752"/>
            <a:ext cx="47548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dash"/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Paste your simulation screenshot or waveform here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Applications</a:t>
            </a:r>
            <a:endParaRPr lang="en-US" sz="3600" dirty="0"/>
          </a:p>
        </p:txBody>
      </p:sp>
      <p:sp>
        <p:nvSpPr>
          <p:cNvPr id="3" name="card_128"/>
          <p:cNvSpPr/>
          <p:nvPr/>
        </p:nvSpPr>
        <p:spPr>
          <a:xfrm>
            <a:off x="45720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4" name="iconbg_129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CPU / ALU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274320" cy="274320"/>
          </a:xfrm>
          <a:prstGeom prst="rect">
            <a:avLst/>
          </a:prstGeom>
        </p:spPr>
      </p:pic>
      <p:sp>
        <p:nvSpPr>
          <p:cNvPr id="6" name="text_130"/>
          <p:cNvSpPr txBox="1"/>
          <p:nvPr/>
        </p:nvSpPr>
        <p:spPr>
          <a:xfrm>
            <a:off x="1325880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CPU / ALU</a:t>
            </a:r>
            <a:endParaRPr lang="en-US" sz="1600" dirty="0"/>
          </a:p>
        </p:txBody>
      </p:sp>
      <p:sp>
        <p:nvSpPr>
          <p:cNvPr id="7" name="text_131"/>
          <p:cNvSpPr txBox="1"/>
          <p:nvPr/>
        </p:nvSpPr>
        <p:spPr>
          <a:xfrm>
            <a:off x="640080" y="2148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Core arithmetic unit inside every processor</a:t>
            </a:r>
            <a:endParaRPr lang="en-US" sz="1400" dirty="0"/>
          </a:p>
        </p:txBody>
      </p:sp>
      <p:sp>
        <p:nvSpPr>
          <p:cNvPr id="8" name="card_132"/>
          <p:cNvSpPr/>
          <p:nvPr/>
        </p:nvSpPr>
        <p:spPr>
          <a:xfrm>
            <a:off x="324612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9" name="iconbg_133"/>
          <p:cNvSpPr/>
          <p:nvPr/>
        </p:nvSpPr>
        <p:spPr>
          <a:xfrm>
            <a:off x="3429000" y="14630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Signal Processing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600200"/>
            <a:ext cx="274320" cy="274320"/>
          </a:xfrm>
          <a:prstGeom prst="rect">
            <a:avLst/>
          </a:prstGeom>
        </p:spPr>
      </p:pic>
      <p:sp>
        <p:nvSpPr>
          <p:cNvPr id="11" name="text_134"/>
          <p:cNvSpPr txBox="1"/>
          <p:nvPr/>
        </p:nvSpPr>
        <p:spPr>
          <a:xfrm>
            <a:off x="4114800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Signal Processing</a:t>
            </a:r>
            <a:endParaRPr lang="en-US" sz="1600" dirty="0"/>
          </a:p>
        </p:txBody>
      </p:sp>
      <p:sp>
        <p:nvSpPr>
          <p:cNvPr id="12" name="text_135"/>
          <p:cNvSpPr txBox="1"/>
          <p:nvPr/>
        </p:nvSpPr>
        <p:spPr>
          <a:xfrm>
            <a:off x="3429000" y="2148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Filters and math on signed sample data</a:t>
            </a:r>
            <a:endParaRPr lang="en-US" sz="1400" dirty="0"/>
          </a:p>
        </p:txBody>
      </p:sp>
      <p:sp>
        <p:nvSpPr>
          <p:cNvPr id="13" name="card_136"/>
          <p:cNvSpPr/>
          <p:nvPr/>
        </p:nvSpPr>
        <p:spPr>
          <a:xfrm>
            <a:off x="603504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4" name="iconbg_137"/>
          <p:cNvSpPr/>
          <p:nvPr/>
        </p:nvSpPr>
        <p:spPr>
          <a:xfrm>
            <a:off x="6217920" y="14630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2" descr="Calculator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600200"/>
            <a:ext cx="274320" cy="274320"/>
          </a:xfrm>
          <a:prstGeom prst="rect">
            <a:avLst/>
          </a:prstGeom>
        </p:spPr>
      </p:pic>
      <p:sp>
        <p:nvSpPr>
          <p:cNvPr id="16" name="text_138"/>
          <p:cNvSpPr txBox="1"/>
          <p:nvPr/>
        </p:nvSpPr>
        <p:spPr>
          <a:xfrm>
            <a:off x="6903720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Calculators</a:t>
            </a:r>
            <a:endParaRPr lang="en-US" sz="1600" dirty="0"/>
          </a:p>
        </p:txBody>
      </p:sp>
      <p:sp>
        <p:nvSpPr>
          <p:cNvPr id="17" name="text_139"/>
          <p:cNvSpPr txBox="1"/>
          <p:nvPr/>
        </p:nvSpPr>
        <p:spPr>
          <a:xfrm>
            <a:off x="6217920" y="2148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Add and subtract in digital calculators</a:t>
            </a:r>
            <a:endParaRPr lang="en-US" sz="1400" dirty="0"/>
          </a:p>
        </p:txBody>
      </p:sp>
      <p:sp>
        <p:nvSpPr>
          <p:cNvPr id="18" name="card_140"/>
          <p:cNvSpPr/>
          <p:nvPr/>
        </p:nvSpPr>
        <p:spPr>
          <a:xfrm>
            <a:off x="457200" y="3017520"/>
            <a:ext cx="26517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9" name="iconbg_141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3" descr="Address Calculation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337560"/>
            <a:ext cx="274320" cy="274320"/>
          </a:xfrm>
          <a:prstGeom prst="rect">
            <a:avLst/>
          </a:prstGeom>
        </p:spPr>
      </p:pic>
      <p:sp>
        <p:nvSpPr>
          <p:cNvPr id="21" name="text_142"/>
          <p:cNvSpPr txBox="1"/>
          <p:nvPr/>
        </p:nvSpPr>
        <p:spPr>
          <a:xfrm>
            <a:off x="1325880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Address Calculation</a:t>
            </a:r>
            <a:endParaRPr lang="en-US" sz="1600" dirty="0"/>
          </a:p>
        </p:txBody>
      </p:sp>
      <p:sp>
        <p:nvSpPr>
          <p:cNvPr id="22" name="text_143"/>
          <p:cNvSpPr txBox="1"/>
          <p:nvPr/>
        </p:nvSpPr>
        <p:spPr>
          <a:xfrm>
            <a:off x="640080" y="38862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Program counter and memory offset math</a:t>
            </a:r>
            <a:endParaRPr lang="en-US" sz="1400" dirty="0"/>
          </a:p>
        </p:txBody>
      </p:sp>
      <p:sp>
        <p:nvSpPr>
          <p:cNvPr id="23" name="card_144"/>
          <p:cNvSpPr/>
          <p:nvPr/>
        </p:nvSpPr>
        <p:spPr>
          <a:xfrm>
            <a:off x="3246120" y="3017520"/>
            <a:ext cx="26517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4" name="iconbg_145"/>
          <p:cNvSpPr/>
          <p:nvPr/>
        </p:nvSpPr>
        <p:spPr>
          <a:xfrm>
            <a:off x="3429000" y="32004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mage 4" descr="Embedded &amp; Io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3337560"/>
            <a:ext cx="274320" cy="274320"/>
          </a:xfrm>
          <a:prstGeom prst="rect">
            <a:avLst/>
          </a:prstGeom>
        </p:spPr>
      </p:pic>
      <p:sp>
        <p:nvSpPr>
          <p:cNvPr id="26" name="text_146"/>
          <p:cNvSpPr txBox="1"/>
          <p:nvPr/>
        </p:nvSpPr>
        <p:spPr>
          <a:xfrm>
            <a:off x="4114800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Embedded &amp; IoT</a:t>
            </a:r>
            <a:endParaRPr lang="en-US" sz="1600" dirty="0"/>
          </a:p>
        </p:txBody>
      </p:sp>
      <p:sp>
        <p:nvSpPr>
          <p:cNvPr id="27" name="text_147"/>
          <p:cNvSpPr txBox="1"/>
          <p:nvPr/>
        </p:nvSpPr>
        <p:spPr>
          <a:xfrm>
            <a:off x="3429000" y="38862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Microcontroller sensor and control logic</a:t>
            </a:r>
            <a:endParaRPr lang="en-US" sz="1400" dirty="0"/>
          </a:p>
        </p:txBody>
      </p:sp>
      <p:sp>
        <p:nvSpPr>
          <p:cNvPr id="28" name="card_148"/>
          <p:cNvSpPr/>
          <p:nvPr/>
        </p:nvSpPr>
        <p:spPr>
          <a:xfrm>
            <a:off x="6035040" y="3017520"/>
            <a:ext cx="26517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9" name="iconbg_149"/>
          <p:cNvSpPr/>
          <p:nvPr/>
        </p:nvSpPr>
        <p:spPr>
          <a:xfrm>
            <a:off x="6217920" y="32004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mage 5" descr="Graphics &amp; Gaming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337560"/>
            <a:ext cx="274320" cy="274320"/>
          </a:xfrm>
          <a:prstGeom prst="rect">
            <a:avLst/>
          </a:prstGeom>
        </p:spPr>
      </p:pic>
      <p:sp>
        <p:nvSpPr>
          <p:cNvPr id="31" name="text_150"/>
          <p:cNvSpPr txBox="1"/>
          <p:nvPr/>
        </p:nvSpPr>
        <p:spPr>
          <a:xfrm>
            <a:off x="6903720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Graphics &amp; Gaming</a:t>
            </a:r>
            <a:endParaRPr lang="en-US" sz="1600" dirty="0"/>
          </a:p>
        </p:txBody>
      </p:sp>
      <p:sp>
        <p:nvSpPr>
          <p:cNvPr id="32" name="text_151"/>
          <p:cNvSpPr txBox="1"/>
          <p:nvPr/>
        </p:nvSpPr>
        <p:spPr>
          <a:xfrm>
            <a:off x="6217920" y="38862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Coordinate and pixel arithmetic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GitHub Repository</a:t>
            </a:r>
            <a:endParaRPr lang="en-US" sz="3600" dirty="0"/>
          </a:p>
        </p:txBody>
      </p:sp>
      <p:sp>
        <p:nvSpPr>
          <p:cNvPr id="3" name="card_152"/>
          <p:cNvSpPr/>
          <p:nvPr/>
        </p:nvSpPr>
        <p:spPr>
          <a:xfrm>
            <a:off x="457200" y="1371600"/>
            <a:ext cx="4937760" cy="2926080"/>
          </a:xfrm>
          <a:prstGeom prst="roundRect">
            <a:avLst>
              <a:gd name="adj" fmla="val 3125"/>
            </a:avLst>
          </a:prstGeom>
          <a:solidFill>
            <a:schemeClr val="tx2"/>
          </a:solidFill>
          <a:ln/>
        </p:spPr>
      </p:sp>
      <p:pic>
        <p:nvPicPr>
          <p:cNvPr id="4" name="Image 0" descr="GitHub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640080" cy="640080"/>
          </a:xfrm>
          <a:prstGeom prst="rect">
            <a:avLst/>
          </a:prstGeom>
        </p:spPr>
      </p:pic>
      <p:sp>
        <p:nvSpPr>
          <p:cNvPr id="5" name="text_153"/>
          <p:cNvSpPr txBox="1"/>
          <p:nvPr/>
        </p:nvSpPr>
        <p:spPr>
          <a:xfrm>
            <a:off x="822960" y="24231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github.com/[your-username]/4bit-adder-subtractor</a:t>
            </a:r>
            <a:endParaRPr lang="en-US" sz="1800" dirty="0"/>
          </a:p>
        </p:txBody>
      </p:sp>
      <p:sp>
        <p:nvSpPr>
          <p:cNvPr id="6" name="text_154"/>
          <p:cNvSpPr txBox="1"/>
          <p:nvPr/>
        </p:nvSpPr>
        <p:spPr>
          <a:xfrm>
            <a:off x="822960" y="3749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Add your repository link here</a:t>
            </a:r>
            <a:endParaRPr lang="en-US" sz="1300" dirty="0"/>
          </a:p>
        </p:txBody>
      </p:sp>
      <p:sp>
        <p:nvSpPr>
          <p:cNvPr id="7" name="text_155"/>
          <p:cNvSpPr txBox="1"/>
          <p:nvPr/>
        </p:nvSpPr>
        <p:spPr>
          <a:xfrm>
            <a:off x="576072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What’s inside</a:t>
            </a:r>
            <a:endParaRPr lang="en-US" sz="2000" dirty="0"/>
          </a:p>
        </p:txBody>
      </p:sp>
      <p:sp>
        <p:nvSpPr>
          <p:cNvPr id="8" name="text_156"/>
          <p:cNvSpPr txBox="1"/>
          <p:nvPr/>
        </p:nvSpPr>
        <p:spPr>
          <a:xfrm>
            <a:off x="5760720" y="187452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Design source code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Testbench and simulation files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README with run instructions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Screenshots and waveforms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bg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4"/>
                </a:solidFill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gital Logic">
  <a:themeElements>
    <a:clrScheme name="Digital Logic">
      <a:dk1>
        <a:srgbClr val="0B1F1F"/>
      </a:dk1>
      <a:lt1>
        <a:srgbClr val="FFFFFF"/>
      </a:lt1>
      <a:dk2>
        <a:srgbClr val="0F3D3E"/>
      </a:dk2>
      <a:lt2>
        <a:srgbClr val="EAF3F1"/>
      </a:lt2>
      <a:accent1>
        <a:srgbClr val="F5A623"/>
      </a:accent1>
      <a:accent2>
        <a:srgbClr val="1B7F7F"/>
      </a:accent2>
      <a:accent3>
        <a:srgbClr val="0F3D3E"/>
      </a:accent3>
      <a:accent4>
        <a:srgbClr val="8FD3C4"/>
      </a:accent4>
      <a:accent5>
        <a:srgbClr val="C23B4B"/>
      </a:accent5>
      <a:accent6>
        <a:srgbClr val="5B6B6B"/>
      </a:accent6>
      <a:hlink>
        <a:srgbClr val="1B7F7F"/>
      </a:hlink>
      <a:folHlink>
        <a:srgbClr val="5B6B6B"/>
      </a:folHlink>
    </a:clrScheme>
    <a:fontScheme name="Digital Logi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1145</Words>
  <Application>Microsoft Office PowerPoint</Application>
  <PresentationFormat>On-screen Show (16:9)</PresentationFormat>
  <Paragraphs>284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Digital Logic</vt:lpstr>
      <vt:lpstr>4-Bit Adder / Subtractor with Overflow Detection</vt:lpstr>
      <vt:lpstr>Problem &amp; Methodology</vt:lpstr>
      <vt:lpstr>Architecture &amp; How It Works</vt:lpstr>
      <vt:lpstr>Truth Tables</vt:lpstr>
      <vt:lpstr>Algorithm Flowchart</vt:lpstr>
      <vt:lpstr>Logisim Circuit &amp; Demo</vt:lpstr>
      <vt:lpstr>Applications</vt:lpstr>
      <vt:lpstr>GitHub Repository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4-Bit Adder/Subtractor with Overflow Detection</dc:title>
  <dc:subject>PptxGenJS Presentation</dc:subject>
  <dc:creator>PptxGenJS</dc:creator>
  <cp:lastModifiedBy>lakshmi vinaya</cp:lastModifiedBy>
  <cp:revision>3</cp:revision>
  <dcterms:created xsi:type="dcterms:W3CDTF">2026-10-15T03:04:10Z</dcterms:created>
  <dcterms:modified xsi:type="dcterms:W3CDTF">2026-10-15T03:51:45Z</dcterms:modified>
</cp:coreProperties>
</file>